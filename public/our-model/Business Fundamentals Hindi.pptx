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95"/>
  </p:normalViewPr>
  <p:slideViewPr>
    <p:cSldViewPr snapToGrid="0">
      <p:cViewPr varScale="1">
        <p:scale>
          <a:sx n="102" d="100"/>
          <a:sy n="102" d="100"/>
        </p:scale>
        <p:origin x="9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1D3A10-28F8-644C-BC7A-52AAA8E97511}"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0A44161-DD14-5D49-A148-62853DE4965E}" type="slidenum">
              <a:rPr lang="en-US" smtClean="0"/>
              <a:t>‹#›</a:t>
            </a:fld>
            <a:endParaRPr lang="en-US"/>
          </a:p>
        </p:txBody>
      </p:sp>
    </p:spTree>
    <p:extLst>
      <p:ext uri="{BB962C8B-B14F-4D97-AF65-F5344CB8AC3E}">
        <p14:creationId xmlns:p14="http://schemas.microsoft.com/office/powerpoint/2010/main" val="3568796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1D3A10-28F8-644C-BC7A-52AAA8E97511}"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44161-DD14-5D49-A148-62853DE4965E}" type="slidenum">
              <a:rPr lang="en-US" smtClean="0"/>
              <a:t>‹#›</a:t>
            </a:fld>
            <a:endParaRPr lang="en-US"/>
          </a:p>
        </p:txBody>
      </p:sp>
    </p:spTree>
    <p:extLst>
      <p:ext uri="{BB962C8B-B14F-4D97-AF65-F5344CB8AC3E}">
        <p14:creationId xmlns:p14="http://schemas.microsoft.com/office/powerpoint/2010/main" val="1537124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DC1D3A10-28F8-644C-BC7A-52AAA8E97511}" type="datetimeFigureOut">
              <a:rPr lang="en-US" smtClean="0"/>
              <a:t>5/8/25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0A44161-DD14-5D49-A148-62853DE4965E}" type="slidenum">
              <a:rPr lang="en-US" smtClean="0"/>
              <a:t>‹#›</a:t>
            </a:fld>
            <a:endParaRPr lang="en-US"/>
          </a:p>
        </p:txBody>
      </p:sp>
    </p:spTree>
    <p:extLst>
      <p:ext uri="{BB962C8B-B14F-4D97-AF65-F5344CB8AC3E}">
        <p14:creationId xmlns:p14="http://schemas.microsoft.com/office/powerpoint/2010/main" val="3262752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1D3A10-28F8-644C-BC7A-52AAA8E97511}"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44161-DD14-5D49-A148-62853DE4965E}" type="slidenum">
              <a:rPr lang="en-US" smtClean="0"/>
              <a:t>‹#›</a:t>
            </a:fld>
            <a:endParaRPr lang="en-US"/>
          </a:p>
        </p:txBody>
      </p:sp>
    </p:spTree>
    <p:extLst>
      <p:ext uri="{BB962C8B-B14F-4D97-AF65-F5344CB8AC3E}">
        <p14:creationId xmlns:p14="http://schemas.microsoft.com/office/powerpoint/2010/main" val="2529885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1D3A10-28F8-644C-BC7A-52AAA8E97511}" type="datetimeFigureOut">
              <a:rPr lang="en-US" smtClean="0"/>
              <a:t>5/8/25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A44161-DD14-5D49-A148-62853DE4965E}"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54074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C1D3A10-28F8-644C-BC7A-52AAA8E97511}" type="datetimeFigureOut">
              <a:rPr lang="en-US" smtClean="0"/>
              <a:t>5/8/25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A44161-DD14-5D49-A148-62853DE4965E}"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794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1D3A10-28F8-644C-BC7A-52AAA8E97511}" type="datetimeFigureOut">
              <a:rPr lang="en-US" smtClean="0"/>
              <a:t>5/8/25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A44161-DD14-5D49-A148-62853DE4965E}" type="slidenum">
              <a:rPr lang="en-US" smtClean="0"/>
              <a:t>‹#›</a:t>
            </a:fld>
            <a:endParaRPr lang="en-US"/>
          </a:p>
        </p:txBody>
      </p:sp>
    </p:spTree>
    <p:extLst>
      <p:ext uri="{BB962C8B-B14F-4D97-AF65-F5344CB8AC3E}">
        <p14:creationId xmlns:p14="http://schemas.microsoft.com/office/powerpoint/2010/main" val="3090475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3A10-28F8-644C-BC7A-52AAA8E97511}"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60A44161-DD14-5D49-A148-62853DE4965E}" type="slidenum">
              <a:rPr lang="en-US" smtClean="0"/>
              <a:t>‹#›</a:t>
            </a:fld>
            <a:endParaRPr lang="en-US"/>
          </a:p>
        </p:txBody>
      </p:sp>
    </p:spTree>
    <p:extLst>
      <p:ext uri="{BB962C8B-B14F-4D97-AF65-F5344CB8AC3E}">
        <p14:creationId xmlns:p14="http://schemas.microsoft.com/office/powerpoint/2010/main" val="1555947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3A10-28F8-644C-BC7A-52AAA8E97511}" type="datetimeFigureOut">
              <a:rPr lang="en-US" smtClean="0"/>
              <a:t>5/8/25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60A44161-DD14-5D49-A148-62853DE4965E}" type="slidenum">
              <a:rPr lang="en-US" smtClean="0"/>
              <a:t>‹#›</a:t>
            </a:fld>
            <a:endParaRPr lang="en-US"/>
          </a:p>
        </p:txBody>
      </p:sp>
    </p:spTree>
    <p:extLst>
      <p:ext uri="{BB962C8B-B14F-4D97-AF65-F5344CB8AC3E}">
        <p14:creationId xmlns:p14="http://schemas.microsoft.com/office/powerpoint/2010/main" val="128219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1D3A10-28F8-644C-BC7A-52AAA8E97511}"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44161-DD14-5D49-A148-62853DE4965E}" type="slidenum">
              <a:rPr lang="en-US" smtClean="0"/>
              <a:t>‹#›</a:t>
            </a:fld>
            <a:endParaRPr lang="en-US"/>
          </a:p>
        </p:txBody>
      </p:sp>
    </p:spTree>
    <p:extLst>
      <p:ext uri="{BB962C8B-B14F-4D97-AF65-F5344CB8AC3E}">
        <p14:creationId xmlns:p14="http://schemas.microsoft.com/office/powerpoint/2010/main" val="683760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1D3A10-28F8-644C-BC7A-52AAA8E97511}"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44161-DD14-5D49-A148-62853DE4965E}" type="slidenum">
              <a:rPr lang="en-US" smtClean="0"/>
              <a:t>‹#›</a:t>
            </a:fld>
            <a:endParaRPr lang="en-US"/>
          </a:p>
        </p:txBody>
      </p:sp>
    </p:spTree>
    <p:extLst>
      <p:ext uri="{BB962C8B-B14F-4D97-AF65-F5344CB8AC3E}">
        <p14:creationId xmlns:p14="http://schemas.microsoft.com/office/powerpoint/2010/main" val="3809425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C1D3A10-28F8-644C-BC7A-52AAA8E97511}" type="datetimeFigureOut">
              <a:rPr lang="en-US" smtClean="0"/>
              <a:t>5/8/25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0A44161-DD14-5D49-A148-62853DE4965E}" type="slidenum">
              <a:rPr lang="en-US" smtClean="0"/>
              <a:t>‹#›</a:t>
            </a:fld>
            <a:endParaRPr lang="en-US"/>
          </a:p>
        </p:txBody>
      </p:sp>
    </p:spTree>
    <p:extLst>
      <p:ext uri="{BB962C8B-B14F-4D97-AF65-F5344CB8AC3E}">
        <p14:creationId xmlns:p14="http://schemas.microsoft.com/office/powerpoint/2010/main" val="19644769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13C8-03E9-1B96-C733-F314C89C072D}"/>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Business fundamentals</a:t>
            </a:r>
          </a:p>
        </p:txBody>
      </p:sp>
    </p:spTree>
    <p:extLst>
      <p:ext uri="{BB962C8B-B14F-4D97-AF65-F5344CB8AC3E}">
        <p14:creationId xmlns:p14="http://schemas.microsoft.com/office/powerpoint/2010/main" val="4105771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E2D35-5307-3151-61B8-0D626992179A}"/>
              </a:ext>
            </a:extLst>
          </p:cNvPr>
          <p:cNvSpPr>
            <a:spLocks noGrp="1"/>
          </p:cNvSpPr>
          <p:nvPr>
            <p:ph type="title"/>
          </p:nvPr>
        </p:nvSpPr>
        <p:spPr/>
        <p:txBody>
          <a:bodyPr/>
          <a:lstStyle/>
          <a:p>
            <a:r>
              <a:rPr lang="hi-IN" dirty="0"/>
              <a:t>उद्यमी बनना और व्यवसाय क्या है</a:t>
            </a:r>
            <a:r>
              <a:rPr lang="en-US" dirty="0"/>
              <a:t>?</a:t>
            </a:r>
          </a:p>
        </p:txBody>
      </p:sp>
      <p:sp>
        <p:nvSpPr>
          <p:cNvPr id="3" name="Content Placeholder 2">
            <a:extLst>
              <a:ext uri="{FF2B5EF4-FFF2-40B4-BE49-F238E27FC236}">
                <a16:creationId xmlns:a16="http://schemas.microsoft.com/office/drawing/2014/main" id="{A58FCEAF-2074-9B99-357B-63645349B954}"/>
              </a:ext>
            </a:extLst>
          </p:cNvPr>
          <p:cNvSpPr>
            <a:spLocks noGrp="1"/>
          </p:cNvSpPr>
          <p:nvPr>
            <p:ph idx="1"/>
          </p:nvPr>
        </p:nvSpPr>
        <p:spPr/>
        <p:txBody>
          <a:bodyPr>
            <a:normAutofit/>
          </a:bodyPr>
          <a:lstStyle/>
          <a:p>
            <a:pPr marL="0" indent="0">
              <a:buNone/>
            </a:pPr>
            <a:r>
              <a:rPr lang="hi-IN" sz="2800" dirty="0"/>
              <a:t>व्यवसाय का मतलब है कुछ बेचना – कोई सामान या सेवा।</a:t>
            </a:r>
            <a:r>
              <a:rPr lang="en-US" sz="2800" dirty="0"/>
              <a:t> </a:t>
            </a:r>
            <a:r>
              <a:rPr lang="hi-IN" sz="2800" dirty="0"/>
              <a:t>यह एक छोटी किराना दुकान भी हो सकती है या कोई बड़ी कंपनी।</a:t>
            </a:r>
            <a:r>
              <a:rPr lang="en-US" sz="2800" dirty="0"/>
              <a:t> </a:t>
            </a:r>
            <a:r>
              <a:rPr lang="hi-IN" sz="2800" dirty="0"/>
              <a:t>जो व्यक्ति ऐसा काम करता है उसे उद्यमी कहते हैं।</a:t>
            </a:r>
            <a:r>
              <a:rPr lang="en-US" sz="2800" dirty="0"/>
              <a:t> </a:t>
            </a:r>
            <a:r>
              <a:rPr lang="hi-IN" sz="2800" dirty="0"/>
              <a:t>व्यवसाय का लक्ष्य मुनाफा कमाना होता है।</a:t>
            </a:r>
            <a:r>
              <a:rPr lang="en-US" sz="2800" dirty="0"/>
              <a:t> </a:t>
            </a:r>
          </a:p>
          <a:p>
            <a:pPr marL="0" indent="0">
              <a:buNone/>
            </a:pPr>
            <a:endParaRPr lang="en-US" sz="2800" dirty="0"/>
          </a:p>
          <a:p>
            <a:pPr marL="0" indent="0">
              <a:buNone/>
            </a:pPr>
            <a:r>
              <a:rPr lang="hi-IN" sz="2800" dirty="0"/>
              <a:t>लेकिन उद्यमी बनने का मतलब है एक बार हारकर रुकना नहीं।</a:t>
            </a:r>
            <a:r>
              <a:rPr lang="en-US" sz="2800" dirty="0"/>
              <a:t> </a:t>
            </a:r>
            <a:r>
              <a:rPr lang="hi-IN" sz="2800" dirty="0"/>
              <a:t>जैसे अगर मैं पापड़ का काम शुरू करूं और फेल हो जाऊं, तो गलती से सीखकर फिर से कोशिश करनी चाहिए।</a:t>
            </a:r>
            <a:r>
              <a:rPr lang="en-US" sz="2800" dirty="0"/>
              <a:t> </a:t>
            </a:r>
            <a:r>
              <a:rPr lang="hi-IN" sz="2800" dirty="0"/>
              <a:t>कड़ी मेहनत बहुत जरूरी है; सफलता आसानी से नहीं मिलती।</a:t>
            </a:r>
            <a:endParaRPr lang="en-US" sz="2800" dirty="0"/>
          </a:p>
        </p:txBody>
      </p:sp>
    </p:spTree>
    <p:extLst>
      <p:ext uri="{BB962C8B-B14F-4D97-AF65-F5344CB8AC3E}">
        <p14:creationId xmlns:p14="http://schemas.microsoft.com/office/powerpoint/2010/main" val="3326725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79F3B-B0E3-09D5-C51B-49442B6BB2C4}"/>
              </a:ext>
            </a:extLst>
          </p:cNvPr>
          <p:cNvSpPr>
            <a:spLocks noGrp="1"/>
          </p:cNvSpPr>
          <p:nvPr>
            <p:ph type="title"/>
          </p:nvPr>
        </p:nvSpPr>
        <p:spPr/>
        <p:txBody>
          <a:bodyPr/>
          <a:lstStyle/>
          <a:p>
            <a:r>
              <a:rPr lang="en-US" dirty="0"/>
              <a:t>Idea Generation: What? and How?</a:t>
            </a:r>
          </a:p>
        </p:txBody>
      </p:sp>
      <p:sp>
        <p:nvSpPr>
          <p:cNvPr id="3" name="Content Placeholder 2">
            <a:extLst>
              <a:ext uri="{FF2B5EF4-FFF2-40B4-BE49-F238E27FC236}">
                <a16:creationId xmlns:a16="http://schemas.microsoft.com/office/drawing/2014/main" id="{02675DB1-735C-D031-1539-DDB85619ED7D}"/>
              </a:ext>
            </a:extLst>
          </p:cNvPr>
          <p:cNvSpPr>
            <a:spLocks noGrp="1"/>
          </p:cNvSpPr>
          <p:nvPr>
            <p:ph idx="1"/>
          </p:nvPr>
        </p:nvSpPr>
        <p:spPr/>
        <p:txBody>
          <a:bodyPr>
            <a:normAutofit/>
          </a:bodyPr>
          <a:lstStyle/>
          <a:p>
            <a:pPr marL="0" indent="0">
              <a:buNone/>
            </a:pPr>
            <a:r>
              <a:rPr lang="hi-IN" dirty="0"/>
              <a:t>अच्छे विचार क्या होते हैं?</a:t>
            </a:r>
            <a:r>
              <a:rPr lang="en-US" dirty="0"/>
              <a:t> </a:t>
            </a:r>
            <a:r>
              <a:rPr lang="hi-IN" dirty="0"/>
              <a:t>हर किसी के पास विचार होते हैं, लेकिन सभी विचार अच्छे नहीं होते।</a:t>
            </a:r>
            <a:r>
              <a:rPr lang="en-US" dirty="0"/>
              <a:t> </a:t>
            </a:r>
            <a:r>
              <a:rPr lang="hi-IN" dirty="0"/>
              <a:t>ऊपर से देखने पर कोई विचार बहुत आकर्षक लग सकता है, लेकिन बिना अच्छे रिसर्च के उसे अच्छा विचार नहीं कहा जा सकता।</a:t>
            </a:r>
            <a:br>
              <a:rPr lang="hi-IN" dirty="0"/>
            </a:br>
            <a:r>
              <a:rPr lang="hi-IN" dirty="0"/>
              <a:t>अच्छा विचार वह होता है जो</a:t>
            </a:r>
            <a:r>
              <a:rPr lang="en-US" dirty="0"/>
              <a:t>:-</a:t>
            </a:r>
          </a:p>
          <a:p>
            <a:br>
              <a:rPr lang="hi-IN" dirty="0"/>
            </a:br>
            <a:r>
              <a:rPr lang="hi-IN" b="0" i="0" dirty="0">
                <a:solidFill>
                  <a:srgbClr val="1F1F1F"/>
                </a:solidFill>
                <a:effectLst/>
                <a:latin typeface="Arial" panose="020B0604020202020204" pitchFamily="34" charset="0"/>
              </a:rPr>
              <a:t>लोगो</a:t>
            </a:r>
            <a:r>
              <a:rPr lang="en-US" b="0" i="0" dirty="0">
                <a:solidFill>
                  <a:srgbClr val="1F1F1F"/>
                </a:solidFill>
                <a:effectLst/>
                <a:latin typeface="Arial" panose="020B0604020202020204" pitchFamily="34" charset="0"/>
              </a:rPr>
              <a:t> </a:t>
            </a:r>
            <a:r>
              <a:rPr lang="hi-IN" dirty="0"/>
              <a:t>की असली जरूरत को पूरा करे और समय के साथ बदल सके।</a:t>
            </a:r>
            <a:endParaRPr lang="en-US" dirty="0"/>
          </a:p>
          <a:p>
            <a:pPr marL="0" indent="0">
              <a:buNone/>
            </a:pPr>
            <a:endParaRPr lang="en-US" dirty="0"/>
          </a:p>
          <a:p>
            <a:r>
              <a:rPr lang="hi-IN" dirty="0"/>
              <a:t>जिसमें शुरू करने में ज्यादा कठिनाई न हो, लेकिन फायदा बड़ा हो।</a:t>
            </a:r>
            <a:endParaRPr lang="en-US" dirty="0"/>
          </a:p>
          <a:p>
            <a:pPr marL="0" indent="0">
              <a:buNone/>
            </a:pPr>
            <a:endParaRPr lang="en-US" dirty="0"/>
          </a:p>
          <a:p>
            <a:r>
              <a:rPr lang="hi-IN" dirty="0"/>
              <a:t>और जिसमें भविष्य में बढ़ने की संभावना हो और वह टिकाऊ हो।</a:t>
            </a:r>
            <a:endParaRPr lang="en-US" dirty="0"/>
          </a:p>
        </p:txBody>
      </p:sp>
    </p:spTree>
    <p:extLst>
      <p:ext uri="{BB962C8B-B14F-4D97-AF65-F5344CB8AC3E}">
        <p14:creationId xmlns:p14="http://schemas.microsoft.com/office/powerpoint/2010/main" val="502517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89C69-02DA-6DC6-C04E-024406B0E41D}"/>
              </a:ext>
            </a:extLst>
          </p:cNvPr>
          <p:cNvSpPr>
            <a:spLocks noGrp="1"/>
          </p:cNvSpPr>
          <p:nvPr>
            <p:ph type="title"/>
          </p:nvPr>
        </p:nvSpPr>
        <p:spPr/>
        <p:txBody>
          <a:bodyPr/>
          <a:lstStyle/>
          <a:p>
            <a:r>
              <a:rPr lang="en-US" dirty="0"/>
              <a:t>Is this a good idea?</a:t>
            </a:r>
          </a:p>
        </p:txBody>
      </p:sp>
      <p:sp>
        <p:nvSpPr>
          <p:cNvPr id="3" name="Content Placeholder 2">
            <a:extLst>
              <a:ext uri="{FF2B5EF4-FFF2-40B4-BE49-F238E27FC236}">
                <a16:creationId xmlns:a16="http://schemas.microsoft.com/office/drawing/2014/main" id="{E057BD88-CF2F-1436-D227-A99A28B1146A}"/>
              </a:ext>
            </a:extLst>
          </p:cNvPr>
          <p:cNvSpPr>
            <a:spLocks noGrp="1"/>
          </p:cNvSpPr>
          <p:nvPr>
            <p:ph idx="1"/>
          </p:nvPr>
        </p:nvSpPr>
        <p:spPr/>
        <p:txBody>
          <a:bodyPr>
            <a:normAutofit/>
          </a:bodyPr>
          <a:lstStyle/>
          <a:p>
            <a:pPr marL="0" indent="0">
              <a:buNone/>
            </a:pPr>
            <a:r>
              <a:rPr lang="hi-IN" sz="2400" dirty="0"/>
              <a:t>चेतन</a:t>
            </a:r>
            <a:r>
              <a:rPr lang="en-US" sz="2400"/>
              <a:t> </a:t>
            </a:r>
            <a:r>
              <a:rPr lang="hi-IN" sz="2800"/>
              <a:t>एक </a:t>
            </a:r>
            <a:r>
              <a:rPr lang="hi-IN" sz="2800" dirty="0"/>
              <a:t>छोटा लड़का है जो नेपाल में हिमालय के पास एक गाँव में रहता है जहाँ बहुत कम लोग रहते हैं।</a:t>
            </a:r>
            <a:r>
              <a:rPr lang="en-US" sz="2800" dirty="0"/>
              <a:t> </a:t>
            </a:r>
            <a:r>
              <a:rPr lang="hi-IN" sz="2800" dirty="0"/>
              <a:t>हाल ही में वह मुंबई गया, जहाँ उसने बहुत सारे नींबू पानी के स्टॉल देखे और उसे बहुत अच्छा लगा।</a:t>
            </a:r>
            <a:r>
              <a:rPr lang="en-US" sz="2800" dirty="0"/>
              <a:t> </a:t>
            </a:r>
            <a:r>
              <a:rPr lang="hi-IN" sz="2800" dirty="0"/>
              <a:t>उसने सोचा कि वापस जाकर वह खुद का नींबू पानी का स्टॉल लगाएगा।</a:t>
            </a:r>
            <a:r>
              <a:rPr lang="en-US" sz="2800" dirty="0"/>
              <a:t> </a:t>
            </a:r>
            <a:r>
              <a:rPr lang="hi-IN" sz="2800" dirty="0"/>
              <a:t>उसने बहुत दूर के शहर से नींबू मंगवाने में बहुत पैसे खर्च कर दिए, क्योंकि उसके गाँव में नींबू नहीं उगते थे। इसलिए उसे नींबू पानी का दाम भी बढ़ाना पड़ा।</a:t>
            </a:r>
            <a:r>
              <a:rPr lang="en-US" sz="2800" dirty="0"/>
              <a:t> </a:t>
            </a:r>
            <a:r>
              <a:rPr lang="hi-IN" sz="2800" dirty="0"/>
              <a:t>रमु को नींबू पानी बनाना भी ठीक से नहीं आता था। उसने नींबू का रस, पानी, चीनी और मसाले सब गलत तरीके से मिलाए।</a:t>
            </a:r>
            <a:r>
              <a:rPr lang="en-US" sz="2800" dirty="0"/>
              <a:t> </a:t>
            </a:r>
            <a:r>
              <a:rPr lang="hi-IN" sz="2800" dirty="0"/>
              <a:t>तो जब वह अपना बिजनेस शुरू करेगा, तब क्या होगा?</a:t>
            </a:r>
          </a:p>
          <a:p>
            <a:pPr marL="0" indent="0">
              <a:buNone/>
            </a:pPr>
            <a:endParaRPr lang="en-US" dirty="0"/>
          </a:p>
        </p:txBody>
      </p:sp>
    </p:spTree>
    <p:extLst>
      <p:ext uri="{BB962C8B-B14F-4D97-AF65-F5344CB8AC3E}">
        <p14:creationId xmlns:p14="http://schemas.microsoft.com/office/powerpoint/2010/main" val="172808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946C-82EC-42E3-CF0C-B1C010229D6F}"/>
              </a:ext>
            </a:extLst>
          </p:cNvPr>
          <p:cNvSpPr>
            <a:spLocks noGrp="1"/>
          </p:cNvSpPr>
          <p:nvPr>
            <p:ph type="title"/>
          </p:nvPr>
        </p:nvSpPr>
        <p:spPr>
          <a:xfrm>
            <a:off x="838200" y="512559"/>
            <a:ext cx="10058400" cy="1609344"/>
          </a:xfrm>
        </p:spPr>
        <p:txBody>
          <a:bodyPr/>
          <a:lstStyle/>
          <a:p>
            <a:r>
              <a:rPr lang="en-US" dirty="0"/>
              <a:t>Outcome and Activity</a:t>
            </a:r>
          </a:p>
        </p:txBody>
      </p:sp>
      <p:sp>
        <p:nvSpPr>
          <p:cNvPr id="3" name="Content Placeholder 2">
            <a:extLst>
              <a:ext uri="{FF2B5EF4-FFF2-40B4-BE49-F238E27FC236}">
                <a16:creationId xmlns:a16="http://schemas.microsoft.com/office/drawing/2014/main" id="{01FC2C17-9F36-0419-64B3-70BF6D181B87}"/>
              </a:ext>
            </a:extLst>
          </p:cNvPr>
          <p:cNvSpPr>
            <a:spLocks noGrp="1"/>
          </p:cNvSpPr>
          <p:nvPr>
            <p:ph idx="1"/>
          </p:nvPr>
        </p:nvSpPr>
        <p:spPr>
          <a:xfrm>
            <a:off x="838200" y="2121903"/>
            <a:ext cx="10515600" cy="1975666"/>
          </a:xfrm>
        </p:spPr>
        <p:txBody>
          <a:bodyPr>
            <a:noAutofit/>
          </a:bodyPr>
          <a:lstStyle/>
          <a:p>
            <a:pPr marL="0" indent="0">
              <a:buNone/>
            </a:pPr>
            <a:r>
              <a:rPr lang="hi-IN" sz="2400" dirty="0"/>
              <a:t>ऊपर से देखने पर ये एक अच्छा आइडिया लग सकता है क्योंकि रमु अपने दूर गाँव में कुछ नया और अलग ला रहा है।</a:t>
            </a:r>
            <a:r>
              <a:rPr lang="en-US" sz="2400" dirty="0"/>
              <a:t> </a:t>
            </a:r>
            <a:r>
              <a:rPr lang="hi-IN" sz="2400" dirty="0"/>
              <a:t>शायद उसे थोड़ी बहुत बिक्री भी हो जाए, लेकिन ये बिज़नेस लंबे समय तक नहीं चलेगा।</a:t>
            </a:r>
            <a:r>
              <a:rPr lang="en-US" sz="2400" dirty="0"/>
              <a:t> </a:t>
            </a:r>
            <a:r>
              <a:rPr lang="hi-IN" sz="2400" dirty="0"/>
              <a:t>चलिए अब एक टूल जिसका नाम है </a:t>
            </a:r>
            <a:r>
              <a:rPr lang="en-US" sz="2400" dirty="0"/>
              <a:t>SWOT, </a:t>
            </a:r>
            <a:r>
              <a:rPr lang="hi-IN" sz="2400" dirty="0"/>
              <a:t>उसका इस्तेमाल करते हैं ये समझने के लिए कि ये वाकई में एक अच्छा आइडिया है या नहीं।</a:t>
            </a:r>
          </a:p>
          <a:p>
            <a:pPr marL="0" indent="0">
              <a:buNone/>
            </a:pPr>
            <a:endParaRPr lang="en-US" sz="2800" dirty="0"/>
          </a:p>
        </p:txBody>
      </p:sp>
      <p:sp>
        <p:nvSpPr>
          <p:cNvPr id="4" name="TextBox 3">
            <a:extLst>
              <a:ext uri="{FF2B5EF4-FFF2-40B4-BE49-F238E27FC236}">
                <a16:creationId xmlns:a16="http://schemas.microsoft.com/office/drawing/2014/main" id="{2D820740-A951-CD02-40CC-3E4D9EE8C1DF}"/>
              </a:ext>
            </a:extLst>
          </p:cNvPr>
          <p:cNvSpPr txBox="1"/>
          <p:nvPr/>
        </p:nvSpPr>
        <p:spPr>
          <a:xfrm>
            <a:off x="838200" y="3971109"/>
            <a:ext cx="10879183" cy="1569660"/>
          </a:xfrm>
          <a:prstGeom prst="rect">
            <a:avLst/>
          </a:prstGeom>
          <a:noFill/>
        </p:spPr>
        <p:txBody>
          <a:bodyPr wrap="square" rtlCol="0">
            <a:spAutoFit/>
          </a:bodyPr>
          <a:lstStyle/>
          <a:p>
            <a:r>
              <a:rPr lang="hi-IN" sz="2400" dirty="0"/>
              <a:t>ये एक ऐसा टूल है जिसका इस्तेमाल कंपनियाँ अपने बिज़नेस को बेहतर समझने के लिए करती हैं — फिर चाहे वो शुरू करने से पहले हो या बाद में।</a:t>
            </a:r>
            <a:r>
              <a:rPr lang="en-US" sz="2400" dirty="0"/>
              <a:t> </a:t>
            </a:r>
            <a:r>
              <a:rPr lang="hi-IN" sz="2400" dirty="0"/>
              <a:t>इस टूल से कमज़ोरियाँ भी पहचानी जा सकती हैं और आइडिया को और अच्छा बनाया जा सकता है।</a:t>
            </a:r>
            <a:r>
              <a:rPr lang="en-US" sz="2400" dirty="0"/>
              <a:t> </a:t>
            </a:r>
            <a:r>
              <a:rPr lang="hi-IN" sz="2400" dirty="0"/>
              <a:t>चलिए अब रमु के केस में इस टूल का इस्तेमाल करते हैं।</a:t>
            </a:r>
            <a:endParaRPr lang="en-US" sz="2400" dirty="0"/>
          </a:p>
        </p:txBody>
      </p:sp>
    </p:spTree>
    <p:extLst>
      <p:ext uri="{BB962C8B-B14F-4D97-AF65-F5344CB8AC3E}">
        <p14:creationId xmlns:p14="http://schemas.microsoft.com/office/powerpoint/2010/main" val="1170751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70842-6306-33C9-B8FB-7AD874694910}"/>
              </a:ext>
            </a:extLst>
          </p:cNvPr>
          <p:cNvSpPr>
            <a:spLocks noGrp="1"/>
          </p:cNvSpPr>
          <p:nvPr>
            <p:ph type="title"/>
          </p:nvPr>
        </p:nvSpPr>
        <p:spPr/>
        <p:txBody>
          <a:bodyPr/>
          <a:lstStyle/>
          <a:p>
            <a:r>
              <a:rPr lang="en-US" dirty="0"/>
              <a:t>Performing an analysis: SWOT Analysis of </a:t>
            </a:r>
            <a:r>
              <a:rPr lang="en-US" dirty="0" err="1"/>
              <a:t>ramu’s</a:t>
            </a:r>
            <a:r>
              <a:rPr lang="en-US" dirty="0"/>
              <a:t> lemonade stand</a:t>
            </a:r>
          </a:p>
        </p:txBody>
      </p:sp>
      <p:sp>
        <p:nvSpPr>
          <p:cNvPr id="6" name="TextBox 5">
            <a:extLst>
              <a:ext uri="{FF2B5EF4-FFF2-40B4-BE49-F238E27FC236}">
                <a16:creationId xmlns:a16="http://schemas.microsoft.com/office/drawing/2014/main" id="{333F4C26-0C11-BA67-30D7-5C2A1EF4C966}"/>
              </a:ext>
            </a:extLst>
          </p:cNvPr>
          <p:cNvSpPr txBox="1"/>
          <p:nvPr/>
        </p:nvSpPr>
        <p:spPr>
          <a:xfrm>
            <a:off x="1195387" y="2302634"/>
            <a:ext cx="3707674" cy="369332"/>
          </a:xfrm>
          <a:prstGeom prst="rect">
            <a:avLst/>
          </a:prstGeom>
          <a:noFill/>
        </p:spPr>
        <p:txBody>
          <a:bodyPr wrap="square" rtlCol="0">
            <a:spAutoFit/>
          </a:bodyPr>
          <a:lstStyle/>
          <a:p>
            <a:r>
              <a:rPr lang="hi-IN" dirty="0"/>
              <a:t>शक्ति</a:t>
            </a:r>
            <a:r>
              <a:rPr lang="en-US" dirty="0"/>
              <a:t>-</a:t>
            </a:r>
          </a:p>
        </p:txBody>
      </p:sp>
      <p:sp>
        <p:nvSpPr>
          <p:cNvPr id="7" name="TextBox 6">
            <a:extLst>
              <a:ext uri="{FF2B5EF4-FFF2-40B4-BE49-F238E27FC236}">
                <a16:creationId xmlns:a16="http://schemas.microsoft.com/office/drawing/2014/main" id="{A7BB061B-503F-B9E2-A55D-BB7C629B463F}"/>
              </a:ext>
            </a:extLst>
          </p:cNvPr>
          <p:cNvSpPr txBox="1"/>
          <p:nvPr/>
        </p:nvSpPr>
        <p:spPr>
          <a:xfrm>
            <a:off x="1147762" y="4186034"/>
            <a:ext cx="3707674" cy="369332"/>
          </a:xfrm>
          <a:prstGeom prst="rect">
            <a:avLst/>
          </a:prstGeom>
          <a:noFill/>
        </p:spPr>
        <p:txBody>
          <a:bodyPr wrap="square" rtlCol="0">
            <a:spAutoFit/>
          </a:bodyPr>
          <a:lstStyle/>
          <a:p>
            <a:r>
              <a:rPr lang="hi-IN" dirty="0"/>
              <a:t>कमजोरी</a:t>
            </a:r>
            <a:r>
              <a:rPr lang="en-US" dirty="0"/>
              <a:t>-</a:t>
            </a:r>
          </a:p>
        </p:txBody>
      </p:sp>
      <p:sp>
        <p:nvSpPr>
          <p:cNvPr id="8" name="TextBox 7">
            <a:extLst>
              <a:ext uri="{FF2B5EF4-FFF2-40B4-BE49-F238E27FC236}">
                <a16:creationId xmlns:a16="http://schemas.microsoft.com/office/drawing/2014/main" id="{2D7E7A46-42C5-BD4F-E447-44A6C3609B74}"/>
              </a:ext>
            </a:extLst>
          </p:cNvPr>
          <p:cNvSpPr txBox="1"/>
          <p:nvPr/>
        </p:nvSpPr>
        <p:spPr>
          <a:xfrm>
            <a:off x="6751320" y="2302634"/>
            <a:ext cx="3707674" cy="369332"/>
          </a:xfrm>
          <a:prstGeom prst="rect">
            <a:avLst/>
          </a:prstGeom>
          <a:noFill/>
        </p:spPr>
        <p:txBody>
          <a:bodyPr wrap="square" rtlCol="0">
            <a:spAutoFit/>
          </a:bodyPr>
          <a:lstStyle/>
          <a:p>
            <a:r>
              <a:rPr lang="hi-IN" dirty="0"/>
              <a:t>अवसर</a:t>
            </a:r>
            <a:r>
              <a:rPr lang="en-US" dirty="0"/>
              <a:t>-</a:t>
            </a:r>
          </a:p>
        </p:txBody>
      </p:sp>
      <p:sp>
        <p:nvSpPr>
          <p:cNvPr id="9" name="TextBox 8">
            <a:extLst>
              <a:ext uri="{FF2B5EF4-FFF2-40B4-BE49-F238E27FC236}">
                <a16:creationId xmlns:a16="http://schemas.microsoft.com/office/drawing/2014/main" id="{D939F738-1877-E5E4-F2BB-406DFCDC0408}"/>
              </a:ext>
            </a:extLst>
          </p:cNvPr>
          <p:cNvSpPr txBox="1"/>
          <p:nvPr/>
        </p:nvSpPr>
        <p:spPr>
          <a:xfrm>
            <a:off x="6751320" y="4186034"/>
            <a:ext cx="3707674" cy="369332"/>
          </a:xfrm>
          <a:prstGeom prst="rect">
            <a:avLst/>
          </a:prstGeom>
          <a:noFill/>
        </p:spPr>
        <p:txBody>
          <a:bodyPr wrap="square" rtlCol="0">
            <a:spAutoFit/>
          </a:bodyPr>
          <a:lstStyle/>
          <a:p>
            <a:r>
              <a:rPr lang="hi-IN" dirty="0"/>
              <a:t>खतरा</a:t>
            </a:r>
            <a:r>
              <a:rPr lang="en-US" dirty="0"/>
              <a:t>-</a:t>
            </a:r>
          </a:p>
        </p:txBody>
      </p:sp>
    </p:spTree>
    <p:extLst>
      <p:ext uri="{BB962C8B-B14F-4D97-AF65-F5344CB8AC3E}">
        <p14:creationId xmlns:p14="http://schemas.microsoft.com/office/powerpoint/2010/main" val="2117782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34232-B2EF-6DAC-FA89-D00AA90133B7}"/>
              </a:ext>
            </a:extLst>
          </p:cNvPr>
          <p:cNvSpPr>
            <a:spLocks noGrp="1"/>
          </p:cNvSpPr>
          <p:nvPr>
            <p:ph type="title"/>
          </p:nvPr>
        </p:nvSpPr>
        <p:spPr/>
        <p:txBody>
          <a:bodyPr/>
          <a:lstStyle/>
          <a:p>
            <a:r>
              <a:rPr lang="en-US" dirty="0"/>
              <a:t>Planning </a:t>
            </a:r>
            <a:r>
              <a:rPr lang="en-US"/>
              <a:t>a Business</a:t>
            </a:r>
            <a:endParaRPr lang="en-US" dirty="0"/>
          </a:p>
        </p:txBody>
      </p:sp>
      <p:sp>
        <p:nvSpPr>
          <p:cNvPr id="3" name="Content Placeholder 2">
            <a:extLst>
              <a:ext uri="{FF2B5EF4-FFF2-40B4-BE49-F238E27FC236}">
                <a16:creationId xmlns:a16="http://schemas.microsoft.com/office/drawing/2014/main" id="{2A2DE34E-FABA-E9B7-2D8C-428D666A5B2C}"/>
              </a:ext>
            </a:extLst>
          </p:cNvPr>
          <p:cNvSpPr>
            <a:spLocks noGrp="1"/>
          </p:cNvSpPr>
          <p:nvPr>
            <p:ph idx="1"/>
          </p:nvPr>
        </p:nvSpPr>
        <p:spPr/>
        <p:txBody>
          <a:bodyPr>
            <a:normAutofit/>
          </a:bodyPr>
          <a:lstStyle/>
          <a:p>
            <a:pPr marL="0" indent="0">
              <a:buNone/>
            </a:pPr>
            <a:r>
              <a:rPr lang="hi-IN" dirty="0"/>
              <a:t>जब कोई बिज़नेस शुरू करने का प्लान किया जाता है, तो कुछ चीज़ों का ध्यान रखना ज़रूरी होता है।एक अच्छा </a:t>
            </a:r>
            <a:r>
              <a:rPr lang="en-US" dirty="0"/>
              <a:t>thumb rule </a:t>
            </a:r>
            <a:r>
              <a:rPr lang="hi-IN" dirty="0"/>
              <a:t>है — </a:t>
            </a:r>
            <a:r>
              <a:rPr lang="hi-IN" b="1" dirty="0"/>
              <a:t>4</a:t>
            </a:r>
            <a:r>
              <a:rPr lang="en-US" b="1" dirty="0"/>
              <a:t>P’s</a:t>
            </a:r>
            <a:r>
              <a:rPr lang="en-US" dirty="0"/>
              <a:t> </a:t>
            </a:r>
            <a:r>
              <a:rPr lang="hi-IN" dirty="0"/>
              <a:t>का ध्यान रखना।</a:t>
            </a:r>
            <a:r>
              <a:rPr lang="en-US" dirty="0"/>
              <a:t> </a:t>
            </a:r>
            <a:r>
              <a:rPr lang="hi-IN" dirty="0"/>
              <a:t>ये हैं 4</a:t>
            </a:r>
            <a:r>
              <a:rPr lang="en-US" dirty="0"/>
              <a:t>P’s:</a:t>
            </a:r>
          </a:p>
          <a:p>
            <a:pPr>
              <a:buFont typeface="+mj-lt"/>
              <a:buAutoNum type="arabicPeriod"/>
            </a:pPr>
            <a:r>
              <a:rPr lang="en-US" b="1" dirty="0"/>
              <a:t>Product (</a:t>
            </a:r>
            <a:r>
              <a:rPr lang="hi-IN" b="1" dirty="0"/>
              <a:t>सामान या सेवा)</a:t>
            </a:r>
            <a:r>
              <a:rPr lang="hi-IN" dirty="0"/>
              <a:t> – इसका मतलब है जो चीज़ आप बेच रहे हैं — उसकी क्वालिटी, क्या-क्या खासियतें हैं, लोगों को उससे क्या फायदा होगा, और उसका नाम या ब्रांडिंग क्या है।</a:t>
            </a:r>
          </a:p>
          <a:p>
            <a:pPr>
              <a:buFont typeface="+mj-lt"/>
              <a:buAutoNum type="arabicPeriod"/>
            </a:pPr>
            <a:r>
              <a:rPr lang="en-US" b="1" dirty="0"/>
              <a:t>Price (</a:t>
            </a:r>
            <a:r>
              <a:rPr lang="hi-IN" b="1" dirty="0"/>
              <a:t>कीमत)</a:t>
            </a:r>
            <a:r>
              <a:rPr lang="hi-IN" dirty="0"/>
              <a:t> – इसका मतलब है उस चीज़ की कीमत क्या होगी। इसमें ये सोचना ज़रूरी है कि लोग उस चीज़ के लिए कितना पैसा देने को तैयार हैं, बनाने में कितना खर्च हो रहा है, और दूसरे लोग (</a:t>
            </a:r>
            <a:r>
              <a:rPr lang="en-US" dirty="0"/>
              <a:t>competitors) </a:t>
            </a:r>
            <a:r>
              <a:rPr lang="hi-IN" dirty="0"/>
              <a:t>कितने में बेच रहे हैं।</a:t>
            </a:r>
          </a:p>
          <a:p>
            <a:pPr>
              <a:buFont typeface="+mj-lt"/>
              <a:buAutoNum type="arabicPeriod"/>
            </a:pPr>
            <a:r>
              <a:rPr lang="en-US" b="1" dirty="0"/>
              <a:t>Place (</a:t>
            </a:r>
            <a:r>
              <a:rPr lang="hi-IN" b="1" dirty="0"/>
              <a:t>जगह)</a:t>
            </a:r>
            <a:r>
              <a:rPr lang="hi-IN" dirty="0"/>
              <a:t> – इसका मतलब है आप उसे कहाँ बेच रहे हैं — ऑनलाइन, दुकान पर, या किसी खास जगह पर।</a:t>
            </a:r>
          </a:p>
          <a:p>
            <a:pPr>
              <a:buFont typeface="+mj-lt"/>
              <a:buAutoNum type="arabicPeriod"/>
            </a:pPr>
            <a:r>
              <a:rPr lang="en-US" b="1" dirty="0"/>
              <a:t>Promotion (</a:t>
            </a:r>
            <a:r>
              <a:rPr lang="hi-IN" b="1" dirty="0"/>
              <a:t>प्रचार)</a:t>
            </a:r>
            <a:r>
              <a:rPr lang="hi-IN" dirty="0"/>
              <a:t> – इसका मतलब है आप अपने प्रोडक्ट का प्रचार कैसे कर रहे हैं। इसमें विज्ञापन और मार्केटिंग आते हैं — जो आप बिज़नेस शुरू करने से पहले और बाद में कर सकते हैं।</a:t>
            </a:r>
          </a:p>
          <a:p>
            <a:pPr marL="0" indent="0">
              <a:buNone/>
            </a:pPr>
            <a:endParaRPr lang="en-US" dirty="0"/>
          </a:p>
        </p:txBody>
      </p:sp>
    </p:spTree>
    <p:extLst>
      <p:ext uri="{BB962C8B-B14F-4D97-AF65-F5344CB8AC3E}">
        <p14:creationId xmlns:p14="http://schemas.microsoft.com/office/powerpoint/2010/main" val="242871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BED0-C7F2-2DF5-8C96-A95283BED4F2}"/>
              </a:ext>
            </a:extLst>
          </p:cNvPr>
          <p:cNvSpPr>
            <a:spLocks noGrp="1"/>
          </p:cNvSpPr>
          <p:nvPr>
            <p:ph type="title"/>
          </p:nvPr>
        </p:nvSpPr>
        <p:spPr/>
        <p:txBody>
          <a:bodyPr/>
          <a:lstStyle/>
          <a:p>
            <a:r>
              <a:rPr lang="en-US" dirty="0"/>
              <a:t>The First P- Product</a:t>
            </a:r>
          </a:p>
        </p:txBody>
      </p:sp>
      <p:sp>
        <p:nvSpPr>
          <p:cNvPr id="3" name="Content Placeholder 2">
            <a:extLst>
              <a:ext uri="{FF2B5EF4-FFF2-40B4-BE49-F238E27FC236}">
                <a16:creationId xmlns:a16="http://schemas.microsoft.com/office/drawing/2014/main" id="{7E2BE685-8F10-B942-2A1E-C5EB9CCEA5BF}"/>
              </a:ext>
            </a:extLst>
          </p:cNvPr>
          <p:cNvSpPr>
            <a:spLocks noGrp="1"/>
          </p:cNvSpPr>
          <p:nvPr>
            <p:ph idx="1"/>
          </p:nvPr>
        </p:nvSpPr>
        <p:spPr/>
        <p:txBody>
          <a:bodyPr>
            <a:normAutofit/>
          </a:bodyPr>
          <a:lstStyle/>
          <a:p>
            <a:pPr marL="0" indent="0">
              <a:buNone/>
            </a:pPr>
            <a:r>
              <a:rPr lang="hi-IN" dirty="0"/>
              <a:t>किसी भी बिज़नेस का दिल होता है उसका प्रोडक्ट।प्रोडक्ट की भूमिका को और अच्छे से समझने के लिए, चलिए फिर से रामू के केस की बात करते हैं।</a:t>
            </a:r>
          </a:p>
          <a:p>
            <a:pPr marL="0" indent="0">
              <a:buNone/>
            </a:pPr>
            <a:r>
              <a:rPr lang="hi-IN" dirty="0"/>
              <a:t>जब रामू अपना प्रोडक्ट बना रहा था, उसने प्रोडक्ट की क्वालिटी की अहमियत को कम आँका।</a:t>
            </a:r>
            <a:br>
              <a:rPr lang="hi-IN" dirty="0"/>
            </a:br>
            <a:r>
              <a:rPr lang="hi-IN" dirty="0"/>
              <a:t>उसने नींबू पानी की सभी सामग्री गलत मात्रा में डाल दी, जिससे उसका स्वाद खराब हो गया।</a:t>
            </a:r>
          </a:p>
          <a:p>
            <a:pPr marL="0" indent="0">
              <a:buNone/>
            </a:pPr>
            <a:r>
              <a:rPr lang="hi-IN" dirty="0"/>
              <a:t>यह उन चीज़ों में से एक था जिसे बेहतर तरीके से प्लान किया जा सकता था — जैसे कि अगर रामू ने एक तय रेसिपी बना ली होती जिसे वह हर बार इस्तेमाल करता, तो उसका प्रोडक्ट हर बार एक जैसा और बेहतर होता।</a:t>
            </a:r>
          </a:p>
          <a:p>
            <a:pPr marL="0" indent="0">
              <a:buNone/>
            </a:pPr>
            <a:endParaRPr lang="en-US" dirty="0"/>
          </a:p>
        </p:txBody>
      </p:sp>
    </p:spTree>
    <p:extLst>
      <p:ext uri="{BB962C8B-B14F-4D97-AF65-F5344CB8AC3E}">
        <p14:creationId xmlns:p14="http://schemas.microsoft.com/office/powerpoint/2010/main" val="3292149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C3DA-96A8-4C17-B750-A6B2C8C82001}"/>
              </a:ext>
            </a:extLst>
          </p:cNvPr>
          <p:cNvSpPr>
            <a:spLocks noGrp="1"/>
          </p:cNvSpPr>
          <p:nvPr>
            <p:ph type="title"/>
          </p:nvPr>
        </p:nvSpPr>
        <p:spPr/>
        <p:txBody>
          <a:bodyPr/>
          <a:lstStyle/>
          <a:p>
            <a:r>
              <a:rPr lang="en-US" dirty="0"/>
              <a:t>The Second P- Price</a:t>
            </a:r>
          </a:p>
        </p:txBody>
      </p:sp>
      <p:sp>
        <p:nvSpPr>
          <p:cNvPr id="3" name="Content Placeholder 2">
            <a:extLst>
              <a:ext uri="{FF2B5EF4-FFF2-40B4-BE49-F238E27FC236}">
                <a16:creationId xmlns:a16="http://schemas.microsoft.com/office/drawing/2014/main" id="{D83C66F3-4CBE-1A4C-B159-D186F76DC373}"/>
              </a:ext>
            </a:extLst>
          </p:cNvPr>
          <p:cNvSpPr>
            <a:spLocks noGrp="1"/>
          </p:cNvSpPr>
          <p:nvPr>
            <p:ph idx="1"/>
          </p:nvPr>
        </p:nvSpPr>
        <p:spPr/>
        <p:txBody>
          <a:bodyPr>
            <a:normAutofit/>
          </a:bodyPr>
          <a:lstStyle/>
          <a:p>
            <a:pPr marL="0" indent="0">
              <a:buNone/>
            </a:pPr>
            <a:r>
              <a:rPr lang="hi-IN" dirty="0"/>
              <a:t>किसी भी प्रोडक्ट का एक बहुत ही ज़रूरी हिस्सा होती है उसकी </a:t>
            </a:r>
            <a:r>
              <a:rPr lang="hi-IN" b="1" dirty="0"/>
              <a:t>कीमत</a:t>
            </a:r>
            <a:r>
              <a:rPr lang="hi-IN" dirty="0"/>
              <a:t>।</a:t>
            </a:r>
            <a:br>
              <a:rPr lang="hi-IN" dirty="0"/>
            </a:br>
            <a:r>
              <a:rPr lang="hi-IN" dirty="0"/>
              <a:t>हर ग्राहक चाहता है कि उसे चीज़ें सस्ती मिलें, और हर दुकानदार चाहता है कि उसे ज़्यादा मुनाफ़ा हो।</a:t>
            </a:r>
            <a:r>
              <a:rPr lang="en-US" dirty="0"/>
              <a:t> </a:t>
            </a:r>
            <a:r>
              <a:rPr lang="hi-IN" dirty="0"/>
              <a:t>चलिए अब रामू के बिज़नेस के फेल होने का एक और कारण देखते हैं — </a:t>
            </a:r>
            <a:r>
              <a:rPr lang="hi-IN" b="1" dirty="0"/>
              <a:t>कीमत से जुड़ा हुआ</a:t>
            </a:r>
            <a:r>
              <a:rPr lang="hi-IN" dirty="0"/>
              <a:t>।</a:t>
            </a:r>
            <a:endParaRPr lang="en-US" dirty="0"/>
          </a:p>
          <a:p>
            <a:pPr marL="0" indent="0">
              <a:buNone/>
            </a:pPr>
            <a:endParaRPr lang="hi-IN" dirty="0"/>
          </a:p>
          <a:p>
            <a:pPr marL="0" indent="0">
              <a:buNone/>
            </a:pPr>
            <a:r>
              <a:rPr lang="hi-IN" dirty="0"/>
              <a:t>रामू के इलाके में नींबू उगाने के लिए न तो सही मौसम था और न ही ज़रूरी संसाधन।</a:t>
            </a:r>
            <a:br>
              <a:rPr lang="hi-IN" dirty="0"/>
            </a:br>
            <a:r>
              <a:rPr lang="hi-IN" dirty="0"/>
              <a:t>इसलिए उसे नींबू बाहर से मंगवाने पड़े, जिससे उसकी लागत बहुत बढ़ गई।</a:t>
            </a:r>
            <a:r>
              <a:rPr lang="en-US" dirty="0"/>
              <a:t> </a:t>
            </a:r>
            <a:r>
              <a:rPr lang="hi-IN" dirty="0"/>
              <a:t>अब नींबू पानी तो एक ऐसी चीज़ है जिसे लोग </a:t>
            </a:r>
            <a:r>
              <a:rPr lang="hi-IN" b="1" dirty="0"/>
              <a:t>बहुत सस्ता</a:t>
            </a:r>
            <a:r>
              <a:rPr lang="hi-IN" dirty="0"/>
              <a:t> ही मानते हैं।</a:t>
            </a:r>
            <a:r>
              <a:rPr lang="en-US" dirty="0"/>
              <a:t> </a:t>
            </a:r>
            <a:r>
              <a:rPr lang="hi-IN" dirty="0"/>
              <a:t>इस वजह से रामू को बहुत बड़ा नुकसान हुआ, क्योंकि कोई भी इतनी महंगी कीमत देकर नींबू पानी नहीं खरीदना चाहता था।</a:t>
            </a:r>
            <a:r>
              <a:rPr lang="en-US" dirty="0"/>
              <a:t> </a:t>
            </a:r>
            <a:r>
              <a:rPr lang="hi-IN" dirty="0"/>
              <a:t>अब हम पहुँचते हैं अपने अगले पॉइंट पर — </a:t>
            </a:r>
            <a:r>
              <a:rPr lang="hi-IN" b="1" dirty="0"/>
              <a:t>जगह (</a:t>
            </a:r>
            <a:r>
              <a:rPr lang="en-US" b="1" dirty="0"/>
              <a:t>Place)</a:t>
            </a:r>
            <a:r>
              <a:rPr lang="en-US" dirty="0"/>
              <a:t>।</a:t>
            </a:r>
          </a:p>
          <a:p>
            <a:pPr marL="0" indent="0">
              <a:buNone/>
            </a:pPr>
            <a:endParaRPr lang="en-US" dirty="0"/>
          </a:p>
        </p:txBody>
      </p:sp>
    </p:spTree>
    <p:extLst>
      <p:ext uri="{BB962C8B-B14F-4D97-AF65-F5344CB8AC3E}">
        <p14:creationId xmlns:p14="http://schemas.microsoft.com/office/powerpoint/2010/main" val="562376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1DC2-87AB-C9CD-A357-27E91004E887}"/>
              </a:ext>
            </a:extLst>
          </p:cNvPr>
          <p:cNvSpPr>
            <a:spLocks noGrp="1"/>
          </p:cNvSpPr>
          <p:nvPr>
            <p:ph type="title"/>
          </p:nvPr>
        </p:nvSpPr>
        <p:spPr>
          <a:xfrm>
            <a:off x="838200" y="422002"/>
            <a:ext cx="10058400" cy="1609344"/>
          </a:xfrm>
        </p:spPr>
        <p:txBody>
          <a:bodyPr/>
          <a:lstStyle/>
          <a:p>
            <a:r>
              <a:rPr lang="en-US" dirty="0"/>
              <a:t>The Third P- Place</a:t>
            </a:r>
          </a:p>
        </p:txBody>
      </p:sp>
      <p:sp>
        <p:nvSpPr>
          <p:cNvPr id="3" name="Content Placeholder 2">
            <a:extLst>
              <a:ext uri="{FF2B5EF4-FFF2-40B4-BE49-F238E27FC236}">
                <a16:creationId xmlns:a16="http://schemas.microsoft.com/office/drawing/2014/main" id="{BFE2E8B5-3697-2CD9-7D21-6B4D5FF3A387}"/>
              </a:ext>
            </a:extLst>
          </p:cNvPr>
          <p:cNvSpPr>
            <a:spLocks noGrp="1"/>
          </p:cNvSpPr>
          <p:nvPr>
            <p:ph idx="1"/>
          </p:nvPr>
        </p:nvSpPr>
        <p:spPr>
          <a:xfrm>
            <a:off x="838200" y="1803422"/>
            <a:ext cx="10515600" cy="4351338"/>
          </a:xfrm>
        </p:spPr>
        <p:txBody>
          <a:bodyPr>
            <a:noAutofit/>
          </a:bodyPr>
          <a:lstStyle/>
          <a:p>
            <a:pPr marL="0" indent="0">
              <a:buNone/>
            </a:pPr>
            <a:r>
              <a:rPr lang="hi-IN" sz="2400" dirty="0"/>
              <a:t>जिस जगह पर कोई उत्पाद बेचा जा रहा है, वह इस बात पर निर्भर करता है कि उत्पाद किस प्रकार का है, और साथ ही बजट, मज़दूरों की उपलब्धता, ग्राहक, संसाधन आदि जैसे कई अन्य कारणों पर भी।</a:t>
            </a:r>
            <a:r>
              <a:rPr lang="en-US" sz="2400" dirty="0"/>
              <a:t> </a:t>
            </a:r>
            <a:r>
              <a:rPr lang="hi-IN" sz="2400" dirty="0"/>
              <a:t>यह रामू की सबसे बड़ी गलती थी — उसने ऐसा उत्पाद चुना जो मुंबई जैसे शहर में तो बेहतरीन आइडिया हो सकता है, लेकिन उसके ठंडे गाँव में नहीं।</a:t>
            </a:r>
            <a:r>
              <a:rPr lang="en-US" sz="2400" dirty="0"/>
              <a:t> </a:t>
            </a:r>
            <a:r>
              <a:rPr lang="hi-IN" sz="2400" dirty="0"/>
              <a:t>लोग नींबू पानी ज़्यादातर गर्मी में प्यास बुझाने और खुद को ठंडा रखने के लिए पीते हैं। लेकिन रामू का इलाका तो ठंडा था, जिससे उसका असर उल्टा हुआ।</a:t>
            </a:r>
            <a:r>
              <a:rPr lang="en-US" sz="2400" dirty="0"/>
              <a:t> </a:t>
            </a:r>
            <a:r>
              <a:rPr lang="hi-IN" sz="2400" dirty="0"/>
              <a:t>साथ ही उसका इलाका बहुत दूर और कम आबादी वाला था, जिससे ग्राहक बहुत कम थे।</a:t>
            </a:r>
            <a:r>
              <a:rPr lang="en-US" sz="2400" dirty="0"/>
              <a:t> </a:t>
            </a:r>
            <a:r>
              <a:rPr lang="hi-IN" sz="2400" dirty="0"/>
              <a:t>ऊपर बताया गया है कि उसके क्षेत्र में नींबू उगाने के लिए ज़रूरी संसाधन भी नहीं थे।</a:t>
            </a:r>
            <a:r>
              <a:rPr lang="en-US" sz="2400" dirty="0"/>
              <a:t> </a:t>
            </a:r>
            <a:r>
              <a:rPr lang="hi-IN" sz="2400" dirty="0"/>
              <a:t>कम बिक्री की समस्या को एक गर्म, नमी वाला, ज्यादा आबादी वाला और नींबू के लिए अनुकूल</a:t>
            </a:r>
            <a:r>
              <a:rPr lang="en-US" sz="2400" dirty="0"/>
              <a:t> </a:t>
            </a:r>
            <a:r>
              <a:rPr lang="hi-IN" sz="2400" dirty="0"/>
              <a:t>क्षेत्र चुनकर हल किया जा सकता था — जैसे कि मुंबई, जहां से वह नींबू लेकर आया था।</a:t>
            </a:r>
          </a:p>
          <a:p>
            <a:pPr marL="0" indent="0">
              <a:buNone/>
            </a:pPr>
            <a:endParaRPr lang="en-US" sz="2300" dirty="0"/>
          </a:p>
        </p:txBody>
      </p:sp>
    </p:spTree>
    <p:extLst>
      <p:ext uri="{BB962C8B-B14F-4D97-AF65-F5344CB8AC3E}">
        <p14:creationId xmlns:p14="http://schemas.microsoft.com/office/powerpoint/2010/main" val="2966437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C0B2-4211-AF62-D32B-4CF6E08FCB4E}"/>
              </a:ext>
            </a:extLst>
          </p:cNvPr>
          <p:cNvSpPr>
            <a:spLocks noGrp="1"/>
          </p:cNvSpPr>
          <p:nvPr>
            <p:ph type="title"/>
          </p:nvPr>
        </p:nvSpPr>
        <p:spPr/>
        <p:txBody>
          <a:bodyPr/>
          <a:lstStyle/>
          <a:p>
            <a:r>
              <a:rPr lang="en-US" dirty="0"/>
              <a:t>The Fourth P- Promotion</a:t>
            </a:r>
          </a:p>
        </p:txBody>
      </p:sp>
      <p:sp>
        <p:nvSpPr>
          <p:cNvPr id="3" name="Content Placeholder 2">
            <a:extLst>
              <a:ext uri="{FF2B5EF4-FFF2-40B4-BE49-F238E27FC236}">
                <a16:creationId xmlns:a16="http://schemas.microsoft.com/office/drawing/2014/main" id="{F751E1E2-C6A1-D6DD-81C3-ADEE8F764E0A}"/>
              </a:ext>
            </a:extLst>
          </p:cNvPr>
          <p:cNvSpPr>
            <a:spLocks noGrp="1"/>
          </p:cNvSpPr>
          <p:nvPr>
            <p:ph idx="1"/>
          </p:nvPr>
        </p:nvSpPr>
        <p:spPr/>
        <p:txBody>
          <a:bodyPr/>
          <a:lstStyle/>
          <a:p>
            <a:pPr marL="0" indent="0">
              <a:buNone/>
            </a:pPr>
            <a:r>
              <a:rPr lang="hi-IN" dirty="0"/>
              <a:t>प्रमोशन (विज्ञापन) एक ऐसा पहलू है जो किसी भी शानदार उत्पाद को बना भी सकता है और बिगाड़ भी सकता है।</a:t>
            </a:r>
            <a:r>
              <a:rPr lang="en-US" dirty="0"/>
              <a:t> </a:t>
            </a:r>
            <a:r>
              <a:rPr lang="hi-IN" dirty="0"/>
              <a:t>इसे मार्केटिंग और ब्रांडिंग के सत्र में विस्तार से समझा जा सकता है।</a:t>
            </a:r>
          </a:p>
          <a:p>
            <a:endParaRPr lang="en-US" dirty="0"/>
          </a:p>
        </p:txBody>
      </p:sp>
    </p:spTree>
    <p:extLst>
      <p:ext uri="{BB962C8B-B14F-4D97-AF65-F5344CB8AC3E}">
        <p14:creationId xmlns:p14="http://schemas.microsoft.com/office/powerpoint/2010/main" val="34016350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{0B4C8930-5F10-6942-96BB-B679601BE6D5}tf10001070</Template>
  <TotalTime>1683</TotalTime>
  <Words>1192</Words>
  <Application>Microsoft Macintosh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Rockwell</vt:lpstr>
      <vt:lpstr>Rockwell Condensed</vt:lpstr>
      <vt:lpstr>Rockwell Extra Bold</vt:lpstr>
      <vt:lpstr>Wingdings</vt:lpstr>
      <vt:lpstr>Wood Type</vt:lpstr>
      <vt:lpstr>Business fundamentals</vt:lpstr>
      <vt:lpstr>उद्यमी बनना और व्यवसाय क्या है?</vt:lpstr>
      <vt:lpstr>Idea Generation: What? and How?</vt:lpstr>
      <vt:lpstr>Is this a good idea?</vt:lpstr>
      <vt:lpstr>Outcome and Activity</vt:lpstr>
      <vt:lpstr>Performing an analysis: SWOT Analysis of ramu’s lemonade stand</vt:lpstr>
      <vt:lpstr>Planning a Business</vt:lpstr>
      <vt:lpstr>The First P- Product</vt:lpstr>
      <vt:lpstr>The Second P- Price</vt:lpstr>
      <vt:lpstr>The Third P- Place</vt:lpstr>
      <vt:lpstr>The Fourth P- Promotion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Workshop-1</dc:title>
  <dc:creator>Suveer Saigal</dc:creator>
  <cp:lastModifiedBy>Suveer Saigal</cp:lastModifiedBy>
  <cp:revision>6</cp:revision>
  <dcterms:created xsi:type="dcterms:W3CDTF">2025-04-01T07:32:56Z</dcterms:created>
  <dcterms:modified xsi:type="dcterms:W3CDTF">2025-05-08T16:59:09Z</dcterms:modified>
</cp:coreProperties>
</file>